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6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4" r:id="rId14"/>
    <p:sldId id="275" r:id="rId15"/>
    <p:sldId id="278" r:id="rId16"/>
    <p:sldId id="277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BF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Kancharla" userId="a74bb8cc917f690b" providerId="LiveId" clId="{14A15777-3D9A-4E5B-AC30-7EC587303D65}"/>
    <pc:docChg chg="custSel modSld sldOrd">
      <pc:chgData name="Ramya Kancharla" userId="a74bb8cc917f690b" providerId="LiveId" clId="{14A15777-3D9A-4E5B-AC30-7EC587303D65}" dt="2026-07-21T03:55:25.955" v="20"/>
      <pc:docMkLst>
        <pc:docMk/>
      </pc:docMkLst>
      <pc:sldChg chg="modSp mod">
        <pc:chgData name="Ramya Kancharla" userId="a74bb8cc917f690b" providerId="LiveId" clId="{14A15777-3D9A-4E5B-AC30-7EC587303D65}" dt="2026-07-20T18:50:58.607" v="3" actId="20577"/>
        <pc:sldMkLst>
          <pc:docMk/>
          <pc:sldMk cId="0" sldId="256"/>
        </pc:sldMkLst>
        <pc:spChg chg="mod">
          <ac:chgData name="Ramya Kancharla" userId="a74bb8cc917f690b" providerId="LiveId" clId="{14A15777-3D9A-4E5B-AC30-7EC587303D65}" dt="2026-07-20T18:50:58.607" v="3" actId="20577"/>
          <ac:spMkLst>
            <pc:docMk/>
            <pc:sldMk cId="0" sldId="256"/>
            <ac:spMk id="6" creationId="{00000000-0000-0000-0000-000000000000}"/>
          </ac:spMkLst>
        </pc:spChg>
      </pc:sldChg>
      <pc:sldChg chg="ord">
        <pc:chgData name="Ramya Kancharla" userId="a74bb8cc917f690b" providerId="LiveId" clId="{14A15777-3D9A-4E5B-AC30-7EC587303D65}" dt="2026-07-21T03:55:25.955" v="20"/>
        <pc:sldMkLst>
          <pc:docMk/>
          <pc:sldMk cId="0" sldId="257"/>
        </pc:sldMkLst>
      </pc:sldChg>
      <pc:sldChg chg="delSp modSp mod">
        <pc:chgData name="Ramya Kancharla" userId="a74bb8cc917f690b" providerId="LiveId" clId="{14A15777-3D9A-4E5B-AC30-7EC587303D65}" dt="2026-07-20T18:51:48.265" v="5" actId="21"/>
        <pc:sldMkLst>
          <pc:docMk/>
          <pc:sldMk cId="0" sldId="261"/>
        </pc:sldMkLst>
        <pc:spChg chg="del">
          <ac:chgData name="Ramya Kancharla" userId="a74bb8cc917f690b" providerId="LiveId" clId="{14A15777-3D9A-4E5B-AC30-7EC587303D65}" dt="2026-07-20T18:51:48.265" v="5" actId="2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amya Kancharla" userId="a74bb8cc917f690b" providerId="LiveId" clId="{14A15777-3D9A-4E5B-AC30-7EC587303D65}" dt="2026-07-20T18:51:42.437" v="4" actId="20577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Ramya Kancharla" userId="a74bb8cc917f690b" providerId="LiveId" clId="{14A15777-3D9A-4E5B-AC30-7EC587303D65}" dt="2026-07-21T03:39:11.565" v="11" actId="20577"/>
        <pc:sldMkLst>
          <pc:docMk/>
          <pc:sldMk cId="0" sldId="275"/>
        </pc:sldMkLst>
        <pc:spChg chg="mod">
          <ac:chgData name="Ramya Kancharla" userId="a74bb8cc917f690b" providerId="LiveId" clId="{14A15777-3D9A-4E5B-AC30-7EC587303D65}" dt="2026-07-21T03:39:05.959" v="8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Ramya Kancharla" userId="a74bb8cc917f690b" providerId="LiveId" clId="{14A15777-3D9A-4E5B-AC30-7EC587303D65}" dt="2026-07-21T03:39:11.565" v="11" actId="20577"/>
          <ac:spMkLst>
            <pc:docMk/>
            <pc:sldMk cId="0" sldId="275"/>
            <ac:spMk id="24" creationId="{BE825308-719F-9FD3-49E5-7E4753916482}"/>
          </ac:spMkLst>
        </pc:spChg>
      </pc:sldChg>
      <pc:sldChg chg="addSp delSp modSp mod delAnim">
        <pc:chgData name="Ramya Kancharla" userId="a74bb8cc917f690b" providerId="LiveId" clId="{14A15777-3D9A-4E5B-AC30-7EC587303D65}" dt="2026-07-21T03:45:39.160" v="18" actId="20577"/>
        <pc:sldMkLst>
          <pc:docMk/>
          <pc:sldMk cId="333692998" sldId="278"/>
        </pc:sldMkLst>
        <pc:spChg chg="add mod">
          <ac:chgData name="Ramya Kancharla" userId="a74bb8cc917f690b" providerId="LiveId" clId="{14A15777-3D9A-4E5B-AC30-7EC587303D65}" dt="2026-07-21T03:45:39.160" v="18" actId="20577"/>
          <ac:spMkLst>
            <pc:docMk/>
            <pc:sldMk cId="333692998" sldId="278"/>
            <ac:spMk id="4" creationId="{FA4AA727-C5ED-3248-3FB9-E65980BEABAE}"/>
          </ac:spMkLst>
        </pc:spChg>
        <pc:picChg chg="del">
          <ac:chgData name="Ramya Kancharla" userId="a74bb8cc917f690b" providerId="LiveId" clId="{14A15777-3D9A-4E5B-AC30-7EC587303D65}" dt="2026-07-21T03:44:51.189" v="12" actId="21"/>
          <ac:picMkLst>
            <pc:docMk/>
            <pc:sldMk cId="333692998" sldId="278"/>
            <ac:picMk id="7" creationId="{36DC0CDD-01E5-EC34-7E32-D7B787E510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5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13A3F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80010" y="5747657"/>
            <a:ext cx="6919349" cy="227667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EXPLORATORY DATA ANALYSIS USING POWER 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ShopTrail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Kancharla Ramya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1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9424" y="41605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01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58768" y="4160520"/>
            <a:ext cx="530352" cy="384048"/>
          </a:xfrm>
          <a:prstGeom prst="roundRect">
            <a:avLst>
              <a:gd name="adj" fmla="val 50000"/>
            </a:avLst>
          </a:prstGeom>
          <a:solidFill>
            <a:srgbClr val="01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41605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3712" y="41605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01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41605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1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4160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 </a:t>
            </a:r>
            <a:r>
              <a:rPr lang="en-US" sz="3000" b="1" dirty="0" err="1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doThis</a:t>
            </a: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Covers: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196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objectives &amp; the ShopTrail star-schema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18196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7132320" y="1746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Combine, shape, clean &amp; quality-check raw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1912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1463040" y="3118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447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columns, date tables &amp; time intelligence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9088" y="31912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7132320" y="3118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447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engagement, funnel &amp; marketing ROI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5628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1463040" y="44897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818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advanced visuals, formatting &amp; responsive layout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3434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3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088" y="45628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7132320" y="44897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Insights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818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Narrative, Q&amp;A, Key Influencers &amp; Decomposition Tree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is a fictional mobile-first e-commerce app spanning Electronics, Fashion, Home, Beauty, Sports and Books. This project turns eleven interconnected tables of user, session, event, purchase and campaign data into a governed Power BI model and a decision-ready, interactive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013A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564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drives revenue, engagement and marketing ROI on ShopTrail — and where should the business focus next?”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6812280" y="14996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12280" y="1773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 and relate 11 tables using Power Query &amp; a star schema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72491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14" name="Text 12"/>
          <p:cNvSpPr/>
          <p:nvPr/>
        </p:nvSpPr>
        <p:spPr>
          <a:xfrm>
            <a:off x="6812280" y="2670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12280" y="2944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KPIs and insights with DAX measures and calculated columns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8953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28" dirty="0"/>
          </a:p>
        </p:txBody>
      </p:sp>
      <p:sp>
        <p:nvSpPr>
          <p:cNvPr id="18" name="Text 16"/>
          <p:cNvSpPr/>
          <p:nvPr/>
        </p:nvSpPr>
        <p:spPr>
          <a:xfrm>
            <a:off x="6812280" y="3840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1228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multi-page, interactive, responsive 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50657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28" dirty="0"/>
          </a:p>
        </p:txBody>
      </p:sp>
      <p:sp>
        <p:nvSpPr>
          <p:cNvPr id="22" name="Text 20"/>
          <p:cNvSpPr/>
          <p:nvPr/>
        </p:nvSpPr>
        <p:spPr>
          <a:xfrm>
            <a:off x="6812280" y="5010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12280" y="5285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clear, evidence-based data story to stakeholders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ShopTrail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7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28216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7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28216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~630K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728216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4505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28216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4505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(10,000)   ·   Countries (36)   ·   Products (500)   ·   TrafficSources (5)   ·   SubscriptionPlans (4)   ·   PaymentMethods (7)   ·   Screens (8)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611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(100,000)   ·   AppEvents (500,000)   ·   Purchases (20,000)   ·   Campaigns (120)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1425" y="490575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3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4244340" y="506577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connect into a single star-schema model — no orphan tables. Every relationship flows Dimension → Fact (one-to-many).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38800-F7EB-68B5-7A16-B1B1FC2DD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92" y="738907"/>
            <a:ext cx="5347999" cy="5014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FDBE7-CE1D-0DBE-A439-A9220A23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5522"/>
            <a:ext cx="6344416" cy="549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6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Data: Append &amp; Merge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Queries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rows from tables that share the same structure into one table (a union). Used to combine multi-month exports of the same table before loading, or to consolidate any regional/period-split source files into a single ShopTrail 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0B2E3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67912"/>
            <a:ext cx="4389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→ Append Queries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Select tables to stack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Result: one unified table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Combine → Append Queries (as New)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3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Queries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tables side-by-side on a matching key — like a VLOOKUP or SQL JOIN. Used to pull Country/State/City onto Users via CountryID, or Screen metadata onto AppEvents via ScreenName, before the star-schema relationships take over in the model.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867912"/>
            <a:ext cx="4389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1298448"/>
          </a:xfrm>
          <a:prstGeom prst="roundRect">
            <a:avLst>
              <a:gd name="adj" fmla="val 5634"/>
            </a:avLst>
          </a:prstGeom>
          <a:solidFill>
            <a:srgbClr val="F3F7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Column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0" y="177393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EventTimestamp → EventDate + EventTime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55280" y="177393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delimiter / by number of characters, so date-level and time-level analysis both become possible.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109960" cy="1298448"/>
          </a:xfrm>
          <a:prstGeom prst="roundRect">
            <a:avLst>
              <a:gd name="adj" fmla="val 5634"/>
            </a:avLst>
          </a:prstGeom>
          <a:solidFill>
            <a:srgbClr val="F3F7F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3697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Columns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0" y="323697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SourceName → TrafficSourceName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323697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dashboard-friendly names across all 11 tables before they hit the model.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109960" cy="1298448"/>
          </a:xfrm>
          <a:prstGeom prst="roundRect">
            <a:avLst>
              <a:gd name="adj" fmla="val 5634"/>
            </a:avLst>
          </a:prstGeom>
          <a:solidFill>
            <a:srgbClr val="F3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000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Data Types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470001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SignupDate: Text → Date  ·  ProductID: Text → Whole Number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47000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typed correctly — dates as Date, keys as Integer, prices as Decimal.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Cleaning: Duplicates, Nulls &amp; Find/Replace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on primary keys — UserID, ProductID, PurchaseID, CampaignID — so every fact row and dimension member is unique.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6459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874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07992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Values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07992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Users.AcquisitionCampaignID is blank for Organic/Referral signups by design — kept as-is, not imputed, since it correctly reflects unpaid acquisition.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744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38744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&amp; Replace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38744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inconsistent text — e.g. "Wi-Fi" vs "WiFi", trailing spaces in Category or DeviceBrand — using Text.Trim, Text.Clean and Replace Values.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13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 step is documented in the Applied Steps pane — this becomes the audit trail in the project's data-dictionary deliverable.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&amp; Inconsistency Checks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Error / Empty % shown per column in Power Query's status bar — flags bad rows immediately.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7F7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Distribution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21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vs. unique value counts per column — surfaces near-duplicate categories (e.g. "Home" vs "Home ").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7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Profile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min/max/average/std-dev view — used to catch impossible values (negative StockQuantity, Age &gt; 100).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3375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675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Purchases by ProductID / OrderStatus and compare counts against Products &amp; known status list to catch mismatches.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 and Date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Row-context DAX, evaluated once per row and stored in the model — used sparingly, only where a static per-row value is genuinely needed.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109960" cy="5376672"/>
          </a:xfrm>
          <a:prstGeom prst="roundRect">
            <a:avLst>
              <a:gd name="adj" fmla="val 1778"/>
            </a:avLst>
          </a:prstGeom>
          <a:solidFill>
            <a:srgbClr val="0B2E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7270E7-BD69-7A77-46D9-7912C4D8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12" y="1486981"/>
            <a:ext cx="2717385" cy="50372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FFE835-401A-2E7B-29F2-BE61ADA1B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342" y="1525089"/>
            <a:ext cx="2900516" cy="49610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5232E5-1B0E-952D-C72E-6BE081BF4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2619" y="1529036"/>
            <a:ext cx="2399071" cy="4829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Core Visualizations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15400" y="160020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3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18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according to Year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3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218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/ Column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3547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categories &amp; platforms ranked by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3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36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Table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49651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Total Revenue X Total Session grid with conditional formatting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4526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3F7F7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636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Visual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49651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revenue distribution using Countries lat/long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Visualizations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563624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41348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84708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4507992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295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744" y="184708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30" dirty="0"/>
          </a:p>
        </p:txBody>
      </p:sp>
      <p:sp>
        <p:nvSpPr>
          <p:cNvPr id="17" name="Text 15"/>
          <p:cNvSpPr/>
          <p:nvPr/>
        </p:nvSpPr>
        <p:spPr>
          <a:xfrm>
            <a:off x="8238744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/ Bubble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38744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 by Platform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6732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77724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Tree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Total Revenue down hierarchically, AI-suggested next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566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376732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4507992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Influencers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what drives Cancelled orders or PurchaseFlag = 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566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38744" y="37673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8238744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Histogram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38744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by Duration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29D1C13-5E48-7E35-B821-A2FEAEF9C051}"/>
              </a:ext>
            </a:extLst>
          </p:cNvPr>
          <p:cNvSpPr/>
          <p:nvPr/>
        </p:nvSpPr>
        <p:spPr>
          <a:xfrm>
            <a:off x="4482821" y="2679192"/>
            <a:ext cx="334788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From Campaigns</a:t>
            </a:r>
            <a:endParaRPr lang="en-US" sz="10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F929C8BD-7B32-C6F2-F37C-8058E84B4C92}"/>
              </a:ext>
            </a:extLst>
          </p:cNvPr>
          <p:cNvSpPr/>
          <p:nvPr/>
        </p:nvSpPr>
        <p:spPr>
          <a:xfrm>
            <a:off x="777240" y="2537460"/>
            <a:ext cx="295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/>
              <a:t>Sum of Revenue by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Narrative, Q&amp;A &amp; Beyond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13A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Narrative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natural-language summary of the Overview page — e.g. "Revenue grew 12% MoM, led by Electronics."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13A3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105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Visual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17627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ShopTrail questions in plain English — "total revenue by category last quarter" — and get an instant visual answer.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13A3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050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Influencers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3708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OrderStatus = Cancelled to reveal which factors (PaymentMethod, DeliveryDays) most influence cancellations.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13A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0050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Tree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3708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Total Revenue down through Category → Country → PaymentMethod, with AI-suggested high/low splits.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ShopTrail  |  Exploratory Data Analysis using Power 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13A3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877824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46641" y="17764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97858"/>
            <a:ext cx="384048" cy="126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8" name="Text 6"/>
          <p:cNvSpPr/>
          <p:nvPr/>
        </p:nvSpPr>
        <p:spPr>
          <a:xfrm>
            <a:off x="1371600" y="223113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1737741"/>
            <a:ext cx="9857232" cy="159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b="1" dirty="0">
              <a:solidFill>
                <a:schemeClr val="bg1"/>
              </a:solidFill>
            </a:endParaRPr>
          </a:p>
          <a:p>
            <a:endParaRPr lang="en-IN" sz="1600" b="1" dirty="0">
              <a:solidFill>
                <a:schemeClr val="bg1"/>
              </a:solidFill>
            </a:endParaRPr>
          </a:p>
          <a:p>
            <a:endParaRPr lang="en-IN" sz="1600" b="1" dirty="0">
              <a:solidFill>
                <a:schemeClr val="bg1"/>
              </a:solidFill>
            </a:endParaRPr>
          </a:p>
          <a:p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Sales Performance</a:t>
            </a:r>
          </a:p>
          <a:p>
            <a:r>
              <a:rPr lang="en-IN" sz="1600" dirty="0">
                <a:solidFill>
                  <a:schemeClr val="bg1"/>
                </a:solidFill>
              </a:rPr>
              <a:t>Total Sales: </a:t>
            </a:r>
            <a:r>
              <a:rPr lang="en-IN" sz="1600" b="1" dirty="0">
                <a:solidFill>
                  <a:schemeClr val="bg1"/>
                </a:solidFill>
              </a:rPr>
              <a:t>5.80M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r>
              <a:rPr lang="en-IN" sz="1600" dirty="0">
                <a:solidFill>
                  <a:schemeClr val="bg1"/>
                </a:solidFill>
              </a:rPr>
              <a:t>Total Orders: </a:t>
            </a:r>
            <a:r>
              <a:rPr lang="en-IN" sz="1600" b="1" dirty="0">
                <a:solidFill>
                  <a:schemeClr val="bg1"/>
                </a:solidFill>
              </a:rPr>
              <a:t>100K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r>
              <a:rPr lang="en-IN" sz="1600" dirty="0">
                <a:solidFill>
                  <a:schemeClr val="bg1"/>
                </a:solidFill>
              </a:rPr>
              <a:t>Total Customers: </a:t>
            </a:r>
            <a:r>
              <a:rPr lang="en-IN" sz="1600" b="1" dirty="0">
                <a:solidFill>
                  <a:schemeClr val="bg1"/>
                </a:solidFill>
              </a:rPr>
              <a:t>10K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r>
              <a:rPr lang="en-IN" sz="1600" dirty="0">
                <a:solidFill>
                  <a:schemeClr val="bg1"/>
                </a:solidFill>
              </a:rPr>
              <a:t>Average Order Value (AOV): </a:t>
            </a:r>
            <a:r>
              <a:rPr lang="en-IN" sz="1600" b="1" dirty="0">
                <a:solidFill>
                  <a:schemeClr val="bg1"/>
                </a:solidFill>
              </a:rPr>
              <a:t>≈ $57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Insight: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The business has a large customer base with a healthy order volume. </a:t>
            </a:r>
          </a:p>
          <a:p>
            <a:r>
              <a:rPr lang="en-IN" sz="1600" dirty="0">
                <a:solidFill>
                  <a:schemeClr val="bg1"/>
                </a:solidFill>
              </a:rPr>
              <a:t>Since the AOV is around $57, increasing basket size through product bundles or cross-selling could significantly increase revenue</a:t>
            </a:r>
            <a:r>
              <a:rPr lang="en-IN" sz="1600" dirty="0"/>
              <a:t>.</a:t>
            </a:r>
          </a:p>
        </p:txBody>
      </p:sp>
      <p:sp>
        <p:nvSpPr>
          <p:cNvPr id="12" name="Text 10"/>
          <p:cNvSpPr/>
          <p:nvPr/>
        </p:nvSpPr>
        <p:spPr>
          <a:xfrm>
            <a:off x="1371600" y="3757803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48092" y="333679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28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1600" y="4297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69" y="4553331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4244365"/>
            <a:ext cx="429768" cy="949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20" name="Text 18"/>
          <p:cNvSpPr/>
          <p:nvPr/>
        </p:nvSpPr>
        <p:spPr>
          <a:xfrm>
            <a:off x="1371600" y="498424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825308-719F-9FD3-49E5-7E4753916482}"/>
              </a:ext>
            </a:extLst>
          </p:cNvPr>
          <p:cNvSpPr txBox="1"/>
          <p:nvPr/>
        </p:nvSpPr>
        <p:spPr>
          <a:xfrm>
            <a:off x="1325880" y="4462272"/>
            <a:ext cx="75905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Customer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endParaRPr lang="en-IN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Around </a:t>
            </a:r>
            <a:r>
              <a:rPr lang="en-IN" b="1" dirty="0">
                <a:solidFill>
                  <a:schemeClr val="bg1"/>
                </a:solidFill>
              </a:rPr>
              <a:t>7.98 sessions per user</a:t>
            </a:r>
            <a:r>
              <a:rPr lang="en-IN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Approximately </a:t>
            </a:r>
            <a:r>
              <a:rPr lang="en-IN" b="1" dirty="0">
                <a:solidFill>
                  <a:schemeClr val="bg1"/>
                </a:solidFill>
              </a:rPr>
              <a:t>7K active users</a:t>
            </a:r>
            <a:r>
              <a:rPr lang="en-IN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Insight: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 engagement is fairly good.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Users are returning multiple times before purchasing, suggesting strong browsing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but potential room to improve conversion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2">
            <a:extLst>
              <a:ext uri="{FF2B5EF4-FFF2-40B4-BE49-F238E27FC236}">
                <a16:creationId xmlns:a16="http://schemas.microsoft.com/office/drawing/2014/main" id="{AEEC527B-93A8-0966-70AB-BDB29AB9FB8D}"/>
              </a:ext>
            </a:extLst>
          </p:cNvPr>
          <p:cNvSpPr/>
          <p:nvPr/>
        </p:nvSpPr>
        <p:spPr>
          <a:xfrm>
            <a:off x="11661551" y="612757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548E9C8-DA65-6C45-DAC5-9B0A09E5DBE8}"/>
              </a:ext>
            </a:extLst>
          </p:cNvPr>
          <p:cNvSpPr/>
          <p:nvPr/>
        </p:nvSpPr>
        <p:spPr>
          <a:xfrm>
            <a:off x="11661551" y="20796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F499CA78-A33B-261E-1399-1E2CAFEB8B2F}"/>
              </a:ext>
            </a:extLst>
          </p:cNvPr>
          <p:cNvSpPr/>
          <p:nvPr/>
        </p:nvSpPr>
        <p:spPr>
          <a:xfrm>
            <a:off x="143226" y="20796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49D73419-3C6F-03DF-F416-E3CEE83B0AA6}"/>
              </a:ext>
            </a:extLst>
          </p:cNvPr>
          <p:cNvSpPr/>
          <p:nvPr/>
        </p:nvSpPr>
        <p:spPr>
          <a:xfrm>
            <a:off x="143226" y="6332097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D4890B-DE2F-48C1-6ADD-B85096D9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74" y="2400425"/>
            <a:ext cx="6607113" cy="1623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28E3A3-CF3E-C044-C31D-00993D63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4" y="4364265"/>
            <a:ext cx="5692633" cy="1798476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BAB4F7-9B6B-5C15-FDED-11F3A1F6BCF2}"/>
              </a:ext>
            </a:extLst>
          </p:cNvPr>
          <p:cNvSpPr/>
          <p:nvPr/>
        </p:nvSpPr>
        <p:spPr>
          <a:xfrm>
            <a:off x="8318090" y="695259"/>
            <a:ext cx="3343461" cy="5028865"/>
          </a:xfrm>
          <a:prstGeom prst="roundRect">
            <a:avLst/>
          </a:prstGeom>
          <a:solidFill>
            <a:srgbClr val="9DBF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6. Product Performance</a:t>
            </a:r>
          </a:p>
          <a:p>
            <a:r>
              <a:rPr lang="en-IN"/>
              <a:t>Product category sales are uneven. </a:t>
            </a:r>
          </a:p>
          <a:p>
            <a:r>
              <a:rPr lang="en-IN"/>
              <a:t>A few categories dominate total sales. </a:t>
            </a:r>
          </a:p>
          <a:p>
            <a:r>
              <a:rPr lang="en-IN" b="1"/>
              <a:t>Insight:</a:t>
            </a:r>
            <a:endParaRPr lang="en-IN"/>
          </a:p>
          <a:p>
            <a:r>
              <a:rPr lang="en-IN"/>
              <a:t>Best-selling categories should receive more inventory and promotional focus. </a:t>
            </a:r>
          </a:p>
          <a:p>
            <a:r>
              <a:rPr lang="en-IN"/>
              <a:t>Underperforming categories may require pricing adjustments or targeted promotions.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4AA727-C5ED-3248-3FB9-E65980BEABAE}"/>
              </a:ext>
            </a:extLst>
          </p:cNvPr>
          <p:cNvSpPr txBox="1"/>
          <p:nvPr/>
        </p:nvSpPr>
        <p:spPr>
          <a:xfrm>
            <a:off x="635346" y="592014"/>
            <a:ext cx="58539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Marketing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Marketing Spend:</a:t>
            </a:r>
            <a:r>
              <a:rPr lang="en-IN" sz="1600" dirty="0"/>
              <a:t> Approximately </a:t>
            </a:r>
            <a:r>
              <a:rPr lang="en-IN" sz="1600" b="1" dirty="0"/>
              <a:t>2.53M</a:t>
            </a:r>
            <a:r>
              <a:rPr lang="en-IN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Insight:</a:t>
            </a:r>
            <a:r>
              <a:rPr lang="en-IN" sz="1600" dirty="0"/>
              <a:t> Campaign performance varies significantly. Some campaigns generate much higher returns than others. Reallocating budget toward high-performing campaigns while optimizing or discontinuing underperforming campaigns can improve overall ROI.</a:t>
            </a:r>
          </a:p>
        </p:txBody>
      </p:sp>
    </p:spTree>
    <p:extLst>
      <p:ext uri="{BB962C8B-B14F-4D97-AF65-F5344CB8AC3E}">
        <p14:creationId xmlns:p14="http://schemas.microsoft.com/office/powerpoint/2010/main" val="33369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F90A62-58A8-89A1-8037-9A7727FEA02A}"/>
              </a:ext>
            </a:extLst>
          </p:cNvPr>
          <p:cNvSpPr txBox="1"/>
          <p:nvPr/>
        </p:nvSpPr>
        <p:spPr>
          <a:xfrm>
            <a:off x="3274142" y="548583"/>
            <a:ext cx="10992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200" i="1" dirty="0">
                <a:solidFill>
                  <a:srgbClr val="8F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pic>
        <p:nvPicPr>
          <p:cNvPr id="4" name="Picture 3" descr="Top 10 Any Questions PowerPoint Presentation Templates in 2026">
            <a:extLst>
              <a:ext uri="{FF2B5EF4-FFF2-40B4-BE49-F238E27FC236}">
                <a16:creationId xmlns:a16="http://schemas.microsoft.com/office/drawing/2014/main" id="{B33BF5DD-A75D-3F80-700A-3685D2A5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154" y="1975054"/>
            <a:ext cx="8367252" cy="47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1308</Words>
  <Application>Microsoft Office PowerPoint</Application>
  <PresentationFormat>Custom</PresentationFormat>
  <Paragraphs>218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Ramya Kancharla</cp:lastModifiedBy>
  <cp:revision>3</cp:revision>
  <dcterms:created xsi:type="dcterms:W3CDTF">2026-07-19T11:18:55Z</dcterms:created>
  <dcterms:modified xsi:type="dcterms:W3CDTF">2026-07-21T03:55:34Z</dcterms:modified>
</cp:coreProperties>
</file>